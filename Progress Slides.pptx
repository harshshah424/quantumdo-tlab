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+j2DdrJ7hJFoomFmziZs/LuKw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90EC17-3CC4-406C-A476-A66167532AE6}">
  <a:tblStyle styleId="{F690EC17-3CC4-406C-A476-A66167532AE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2EFB825-1A79-4B28-BCC5-24DF2CBFD88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2E3425D-F974-4039-B526-C25363BE619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customschemas.google.com/relationships/presentationmetadata" Target="metadata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D16CA6FE-7F5F-6DDD-A2DD-A9F1795B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E031F035-61FA-7EA3-0F07-AA549480F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E203245-CBD1-8535-6439-A3CB97C24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12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524000" y="355750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838200" y="1992828"/>
            <a:ext cx="10515600" cy="131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8" descr="BITS_university_logo_whitevert.png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456212" y="-74264"/>
            <a:ext cx="1126028" cy="1083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Picture 7.png"/>
          <p:cNvPicPr preferRelativeResize="0"/>
          <p:nvPr/>
        </p:nvPicPr>
        <p:blipFill rotWithShape="1">
          <a:blip r:embed="rId3">
            <a:alphaModFix/>
          </a:blip>
          <a:srcRect l="1923" b="5332"/>
          <a:stretch/>
        </p:blipFill>
        <p:spPr>
          <a:xfrm>
            <a:off x="9051967" y="0"/>
            <a:ext cx="2519150" cy="79564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6324600" y="6452979"/>
            <a:ext cx="586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4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K K Birla Goa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8"/>
          <p:cNvGrpSpPr/>
          <p:nvPr/>
        </p:nvGrpSpPr>
        <p:grpSpPr>
          <a:xfrm>
            <a:off x="5181600" y="6356350"/>
            <a:ext cx="7010400" cy="45719"/>
            <a:chOff x="1905000" y="6553200"/>
            <a:chExt cx="7010400" cy="45719"/>
          </a:xfrm>
        </p:grpSpPr>
        <p:sp>
          <p:nvSpPr>
            <p:cNvPr id="22" name="Google Shape;22;p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" name="Google Shape;25;p8"/>
          <p:cNvPicPr preferRelativeResize="0"/>
          <p:nvPr/>
        </p:nvPicPr>
        <p:blipFill rotWithShape="1">
          <a:blip r:embed="rId4">
            <a:alphaModFix/>
          </a:blip>
          <a:srcRect b="41120"/>
          <a:stretch/>
        </p:blipFill>
        <p:spPr>
          <a:xfrm>
            <a:off x="456212" y="5657950"/>
            <a:ext cx="1675409" cy="88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/>
          <p:cNvPicPr preferRelativeResize="0"/>
          <p:nvPr/>
        </p:nvPicPr>
        <p:blipFill rotWithShape="1">
          <a:blip r:embed="rId5">
            <a:alphaModFix/>
          </a:blip>
          <a:srcRect l="1949" t="6697" r="1868" b="6428"/>
          <a:stretch/>
        </p:blipFill>
        <p:spPr>
          <a:xfrm>
            <a:off x="2438894" y="5776839"/>
            <a:ext cx="1883723" cy="7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78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8200" y="14188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78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663277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136525"/>
            <a:ext cx="10515600" cy="78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4188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/>
          <p:nvPr/>
        </p:nvSpPr>
        <p:spPr>
          <a:xfrm>
            <a:off x="449044" y="991589"/>
            <a:ext cx="3703320" cy="94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"/>
          <p:cNvSpPr/>
          <p:nvPr/>
        </p:nvSpPr>
        <p:spPr>
          <a:xfrm>
            <a:off x="8044657" y="988032"/>
            <a:ext cx="3703320" cy="985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7"/>
          <p:cNvSpPr/>
          <p:nvPr/>
        </p:nvSpPr>
        <p:spPr>
          <a:xfrm>
            <a:off x="4244340" y="991589"/>
            <a:ext cx="370332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7" r:id="rId3"/>
    <p:sldLayoutId id="2147483658" r:id="rId4"/>
    <p:sldLayoutId id="2147483659" r:id="rId5"/>
    <p:sldLayoutId id="214748366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ouvikg@goa.bits-pilani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55750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Gaurav Pachauri, Name 2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email@goa.bits-pilani.ac.in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Department of Electrical and Electronics Engineering</a:t>
            </a:r>
            <a:endParaRPr/>
          </a:p>
        </p:txBody>
      </p:sp>
      <p:sp>
        <p:nvSpPr>
          <p:cNvPr id="92" name="Google Shape;92;p1"/>
          <p:cNvSpPr txBox="1">
            <a:spLocks noGrp="1"/>
          </p:cNvSpPr>
          <p:nvPr>
            <p:ph type="title"/>
          </p:nvPr>
        </p:nvSpPr>
        <p:spPr>
          <a:xfrm>
            <a:off x="838200" y="1992828"/>
            <a:ext cx="10515600" cy="131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Progress Slides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BE2BAC3-A699-6821-90DF-F582FA77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C9E2EDFA-B4E2-3650-7BA1-736CC1A94E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7868" y="2033389"/>
            <a:ext cx="5521452" cy="307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365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Nanoscale Core:</a:t>
            </a:r>
            <a:r>
              <a:rPr lang="en-IN" sz="1800" dirty="0"/>
              <a:t> Direct bandgap semiconductor with crystal diameter typically ranging from 2 to 8 nm.</a:t>
            </a:r>
          </a:p>
          <a:p>
            <a:pPr marL="3365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Size-</a:t>
            </a:r>
            <a:r>
              <a:rPr lang="en-IN" sz="1800" b="1" dirty="0" err="1"/>
              <a:t>Tunable</a:t>
            </a:r>
            <a:r>
              <a:rPr lang="en-IN" sz="1800" b="1" dirty="0"/>
              <a:t> Photoluminescence:</a:t>
            </a:r>
            <a:r>
              <a:rPr lang="en-IN" sz="1800" dirty="0"/>
              <a:t> Emission spans the visible spectrum due to quantum confinement effects.</a:t>
            </a:r>
          </a:p>
          <a:p>
            <a:pPr marL="3365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High Surface Atom Ratio:</a:t>
            </a:r>
            <a:r>
              <a:rPr lang="en-IN" sz="1800" dirty="0"/>
              <a:t> Up to 80% of constituent atoms reside on the physical particle boundary.</a:t>
            </a:r>
          </a:p>
          <a:p>
            <a:pPr marL="3365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50800" indent="0"/>
            <a:endParaRPr lang="en-IN" dirty="0"/>
          </a:p>
          <a:p>
            <a:pPr marL="50800" lvl="0" indent="0"/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82F94B6C-1ECC-B098-7459-D3D13A772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00328" y="1505048"/>
            <a:ext cx="8570976" cy="247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u="sng" dirty="0">
                <a:latin typeface="Arial Black" panose="020B0A04020102020204" pitchFamily="34" charset="0"/>
              </a:rPr>
              <a:t>Structure and Quantum Confinement</a:t>
            </a:r>
            <a:endParaRPr sz="2000" b="1" u="sng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AC1E3C-39EC-5E64-6BC4-039F4E0BEE17}"/>
              </a:ext>
            </a:extLst>
          </p:cNvPr>
          <p:cNvSpPr txBox="1"/>
          <p:nvPr/>
        </p:nvSpPr>
        <p:spPr>
          <a:xfrm>
            <a:off x="0" y="356616"/>
            <a:ext cx="10872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Arial Black" panose="020B0A04020102020204" pitchFamily="34" charset="0"/>
              </a:rPr>
              <a:t>Bare </a:t>
            </a:r>
            <a:r>
              <a:rPr lang="en-US" sz="2000" b="1" u="sng" dirty="0" err="1">
                <a:latin typeface="Arial Black" panose="020B0A04020102020204" pitchFamily="34" charset="0"/>
              </a:rPr>
              <a:t>CdSe</a:t>
            </a:r>
            <a:r>
              <a:rPr lang="en-US" sz="2000" b="1" u="sng" dirty="0">
                <a:latin typeface="Arial Black" panose="020B0A04020102020204" pitchFamily="34" charset="0"/>
              </a:rPr>
              <a:t> Quantum dots</a:t>
            </a:r>
            <a:endParaRPr lang="en-IN" sz="2000" b="1" u="sng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7DF4EF-2532-D191-06F9-C8CB1F723520}"/>
                  </a:ext>
                </a:extLst>
              </p:cNvPr>
              <p:cNvSpPr txBox="1"/>
              <p:nvPr/>
            </p:nvSpPr>
            <p:spPr>
              <a:xfrm>
                <a:off x="794004" y="4704686"/>
                <a:ext cx="4782312" cy="801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IN" i="0"/>
                            <m:t>QD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IN" i="0"/>
                            <m:t>bulk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1.8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7DF4EF-2532-D191-06F9-C8CB1F723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04" y="4704686"/>
                <a:ext cx="4782312" cy="801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DDD514-955A-41B6-8880-2AC7ABF8C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538207"/>
            <a:ext cx="5903788" cy="404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0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9104-FA9C-C380-87AE-B001347A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u="sng" dirty="0">
                <a:latin typeface="Arial Black" panose="020B0A04020102020204" pitchFamily="34" charset="0"/>
              </a:rPr>
              <a:t>Core </a:t>
            </a:r>
            <a:r>
              <a:rPr lang="en-US" sz="4000" b="1" u="sng" dirty="0" err="1">
                <a:latin typeface="Arial Black" panose="020B0A04020102020204" pitchFamily="34" charset="0"/>
              </a:rPr>
              <a:t>CdSe</a:t>
            </a:r>
            <a:r>
              <a:rPr lang="en-US" sz="4000" b="1" u="sng" dirty="0">
                <a:latin typeface="Arial Black" panose="020B0A04020102020204" pitchFamily="34" charset="0"/>
              </a:rPr>
              <a:t> Limitations</a:t>
            </a:r>
            <a:endParaRPr lang="en-IN" sz="4000" b="1" u="sn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A7815-381D-72F1-FA1A-FD0D47B38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Surface Trap States: </a:t>
            </a:r>
            <a:r>
              <a:rPr lang="en-IN" sz="2000" dirty="0" err="1"/>
              <a:t>Unpassivated</a:t>
            </a:r>
            <a:r>
              <a:rPr lang="en-IN" sz="2000" dirty="0"/>
              <a:t> dangling bonds on the surface create localized energy states within the bandgap, rapidly trapping exciton charge carriers.</a:t>
            </a:r>
          </a:p>
          <a:p>
            <a:endParaRPr lang="en-IN" sz="2000" dirty="0"/>
          </a:p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Low Quantum Yield: </a:t>
            </a:r>
            <a:r>
              <a:rPr lang="en-IN" sz="2000" dirty="0"/>
              <a:t>Dominant non-radiative recombination pathways significantly reduce Photoluminescence Quantum Yield (PLQY &lt; 20% at room temperature).</a:t>
            </a:r>
          </a:p>
          <a:p>
            <a:endParaRPr lang="en-IN" sz="2000" dirty="0"/>
          </a:p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Photochemical Instability: </a:t>
            </a:r>
            <a:r>
              <a:rPr lang="en-IN" sz="2000" dirty="0"/>
              <a:t>Unprotected </a:t>
            </a:r>
            <a:r>
              <a:rPr lang="en-IN" sz="2000" dirty="0" err="1"/>
              <a:t>CdSe</a:t>
            </a:r>
            <a:r>
              <a:rPr lang="en-IN" sz="2000" dirty="0"/>
              <a:t> cores suffer from rapid photo-oxidation under UV irradiation, causing spectral blue-shifts and signal degradation.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82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A4BE8-F7D5-DAD3-C51D-AB2CCC32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3F16-E30C-D686-74AE-66BB1CC8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rial Black" panose="020B0A04020102020204" pitchFamily="34" charset="0"/>
              </a:rPr>
              <a:t>Core/Shell </a:t>
            </a:r>
            <a:r>
              <a:rPr lang="en-US" sz="4000" u="sng" dirty="0" err="1">
                <a:latin typeface="Arial Black" panose="020B0A04020102020204" pitchFamily="34" charset="0"/>
              </a:rPr>
              <a:t>Cdse</a:t>
            </a:r>
            <a:r>
              <a:rPr lang="en-US" sz="4000" u="sng" dirty="0">
                <a:latin typeface="Arial Black" panose="020B0A04020102020204" pitchFamily="34" charset="0"/>
              </a:rPr>
              <a:t> Architecture</a:t>
            </a:r>
            <a:endParaRPr lang="en-IN" sz="4000" u="sn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E5529-21F5-6A2D-0E88-40455529D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8854"/>
            <a:ext cx="5257800" cy="4351338"/>
          </a:xfrm>
        </p:spPr>
        <p:txBody>
          <a:bodyPr>
            <a:normAutofit fontScale="85000" lnSpcReduction="10000"/>
          </a:bodyPr>
          <a:lstStyle/>
          <a:p>
            <a:pPr marL="114300" indent="0" algn="ctr">
              <a:buNone/>
            </a:pPr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Epitaxial Shell Passivation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Inorganic Shell Coating:</a:t>
            </a:r>
            <a:r>
              <a:rPr lang="en-IN" sz="2400" u="sng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Growing a wider bandgap semiconductor shell (e.g., ZnS or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over the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CdSe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core.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Type-I Band Alignment:</a:t>
            </a:r>
            <a:r>
              <a:rPr lang="en-IN" sz="2400" u="sng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Conduction and valence band edges of the shell enclose the core, confining excitons inside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CdSe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Elimination of Traps:</a:t>
            </a:r>
            <a:r>
              <a:rPr lang="en-IN" sz="2400" u="sng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Surface dangling bonds are electronically passivated, suppressing non-radiative decay.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Environmental Shield:</a:t>
            </a:r>
            <a:r>
              <a:rPr lang="en-IN" sz="2400" u="sng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Physical barrier isolates the core from oxygen, moisture, and chemical quenchers.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BEF62-9795-EEA9-AC4A-70A11B1B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755" y="1657349"/>
            <a:ext cx="5185627" cy="370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1C7F-7F86-9F49-02F0-149AE2A17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28025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Arial Black" panose="020B0A04020102020204" pitchFamily="34" charset="0"/>
              </a:rPr>
              <a:t>Bare vs. Core/Shell Comparison</a:t>
            </a:r>
            <a:br>
              <a:rPr lang="en-IN" b="1" u="sng" dirty="0">
                <a:latin typeface="Arial Black" panose="020B0A04020102020204" pitchFamily="34" charset="0"/>
              </a:rPr>
            </a:br>
            <a:endParaRPr lang="en-IN" u="sng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B0945E-74A6-B6A9-D9A6-33FCFEC78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345410"/>
              </p:ext>
            </p:extLst>
          </p:nvPr>
        </p:nvGraphicFramePr>
        <p:xfrm>
          <a:off x="838200" y="1418854"/>
          <a:ext cx="10710672" cy="46984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570224">
                  <a:extLst>
                    <a:ext uri="{9D8B030D-6E8A-4147-A177-3AD203B41FA5}">
                      <a16:colId xmlns:a16="http://schemas.microsoft.com/office/drawing/2014/main" val="2719602866"/>
                    </a:ext>
                  </a:extLst>
                </a:gridCol>
                <a:gridCol w="3570224">
                  <a:extLst>
                    <a:ext uri="{9D8B030D-6E8A-4147-A177-3AD203B41FA5}">
                      <a16:colId xmlns:a16="http://schemas.microsoft.com/office/drawing/2014/main" val="3285100353"/>
                    </a:ext>
                  </a:extLst>
                </a:gridCol>
                <a:gridCol w="3570224">
                  <a:extLst>
                    <a:ext uri="{9D8B030D-6E8A-4147-A177-3AD203B41FA5}">
                      <a16:colId xmlns:a16="http://schemas.microsoft.com/office/drawing/2014/main" val="4064014808"/>
                    </a:ext>
                  </a:extLst>
                </a:gridCol>
              </a:tblGrid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Property/Metric</a:t>
                      </a:r>
                      <a:endParaRPr lang="en-IN" sz="2000" b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solidFill>
                            <a:schemeClr val="bg1"/>
                          </a:solidFill>
                        </a:rPr>
                        <a:t>Bare </a:t>
                      </a:r>
                      <a:r>
                        <a:rPr lang="en-US" sz="2000" u="sng" dirty="0" err="1">
                          <a:solidFill>
                            <a:schemeClr val="bg1"/>
                          </a:solidFill>
                        </a:rPr>
                        <a:t>CdSe</a:t>
                      </a:r>
                      <a:r>
                        <a:rPr lang="en-US" sz="2000" u="sng" dirty="0">
                          <a:solidFill>
                            <a:schemeClr val="bg1"/>
                          </a:solidFill>
                        </a:rPr>
                        <a:t> Core</a:t>
                      </a:r>
                      <a:endParaRPr lang="en-IN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 err="1">
                          <a:solidFill>
                            <a:schemeClr val="bg1"/>
                          </a:solidFill>
                        </a:rPr>
                        <a:t>CdSe</a:t>
                      </a:r>
                      <a:r>
                        <a:rPr lang="en-US" sz="2000" u="sng" dirty="0">
                          <a:solidFill>
                            <a:schemeClr val="bg1"/>
                          </a:solidFill>
                        </a:rPr>
                        <a:t>/ZnS Core/Shell</a:t>
                      </a:r>
                      <a:endParaRPr lang="en-IN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326858"/>
                  </a:ext>
                </a:extLst>
              </a:tr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PL Quantum Yield</a:t>
                      </a:r>
                      <a:endParaRPr lang="en-IN" sz="2000" b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Low(5%-20%)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Very High (50%-90%)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267569"/>
                  </a:ext>
                </a:extLst>
              </a:tr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tx1"/>
                          </a:solidFill>
                        </a:rPr>
                        <a:t>Photostability</a:t>
                      </a:r>
                      <a:endParaRPr lang="en-IN" sz="2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Poor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Exceptional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633934"/>
                  </a:ext>
                </a:extLst>
              </a:tr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Surface Detect Trap States</a:t>
                      </a:r>
                      <a:endParaRPr lang="en-IN" sz="2000" b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High Density of Dangling Bonds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Electronically Passive Interface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564064"/>
                  </a:ext>
                </a:extLst>
              </a:tr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tx1"/>
                          </a:solidFill>
                        </a:rPr>
                        <a:t>Exciton Confinement</a:t>
                      </a:r>
                      <a:endParaRPr lang="en-IN" sz="2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Exposed to external Environment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Strong Type-1 spatial confinement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964601"/>
                  </a:ext>
                </a:extLst>
              </a:tr>
              <a:tr h="783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Primary </a:t>
                      </a:r>
                      <a:r>
                        <a:rPr lang="en-US" sz="2000" b="1" u="sng" dirty="0" err="1">
                          <a:solidFill>
                            <a:schemeClr val="bg1"/>
                          </a:solidFill>
                        </a:rPr>
                        <a:t>Applicaitons</a:t>
                      </a:r>
                      <a:endParaRPr lang="en-IN" sz="2000" b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Basic Spectroscopic research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QLED Displays, Bio-Imaging, Photovoltaics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94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9933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317</Words>
  <Application>Microsoft Office PowerPoint</Application>
  <PresentationFormat>Widescreen</PresentationFormat>
  <Paragraphs>43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Cambria Math</vt:lpstr>
      <vt:lpstr>Custom Design</vt:lpstr>
      <vt:lpstr>Progress Slides </vt:lpstr>
      <vt:lpstr>Structure and Quantum Confinement</vt:lpstr>
      <vt:lpstr>Core CdSe Limitations</vt:lpstr>
      <vt:lpstr>Core/Shell Cdse Architecture</vt:lpstr>
      <vt:lpstr>Bare vs. Core/Shell Comparison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Slides</dc:title>
  <dc:creator>Souvik Ghosh</dc:creator>
  <cp:lastModifiedBy>Harsh Shah</cp:lastModifiedBy>
  <cp:revision>4</cp:revision>
  <dcterms:created xsi:type="dcterms:W3CDTF">2024-10-18T06:16:32Z</dcterms:created>
  <dcterms:modified xsi:type="dcterms:W3CDTF">2026-08-14T16:42:15Z</dcterms:modified>
</cp:coreProperties>
</file>