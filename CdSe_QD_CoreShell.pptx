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548640"/>
            <a:ext cx="2560320" cy="2560320"/>
          </a:xfrm>
          <a:prstGeom prst="ellipse">
            <a:avLst/>
          </a:prstGeom>
          <a:solidFill>
            <a:srgbClr val="00C2C7">
              <a:alpha val="30000"/>
            </a:srgbClr>
          </a:solidFill>
          <a:ln w="25400">
            <a:solidFill>
              <a:srgbClr val="00C2C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914400"/>
            <a:ext cx="1828800" cy="1828800"/>
          </a:xfrm>
          <a:prstGeom prst="ellipse">
            <a:avLst/>
          </a:prstGeom>
          <a:solidFill>
            <a:srgbClr val="00C2C7">
              <a:alpha val="55000"/>
            </a:srgbClr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95160" y="1325880"/>
            <a:ext cx="1005840" cy="1005840"/>
          </a:xfrm>
          <a:prstGeom prst="ellipse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2296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CdSe Quantum Dots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00C2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&amp; Core/Shell Nanostructures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02920" y="251460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optical properties, surface passivation,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8AAD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quantum confinement behavior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3474720"/>
            <a:ext cx="1097280" cy="36576"/>
          </a:xfrm>
          <a:prstGeom prst="rect">
            <a:avLst/>
          </a:prstGeom>
          <a:solidFill>
            <a:srgbClr val="F5A623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0" y="23317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3C"/>
                </a:solidFill>
              </a:rPr>
              <a:t>Core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6858000" y="9144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Shell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126480" y="5029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ADC0"/>
                </a:solidFill>
              </a:rPr>
              <a:t>Ligands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A5470"/>
                </a:solidFill>
              </a:rPr>
              <a:t>Semiconductor Nanomaterials  |  Photophysics &amp; Surface Chemistry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C2C7"/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CdSe Core-Only Quantum Dots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Bare semiconductor nanocrystals — simple structure, inherent limitations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8412480" cy="22860"/>
          </a:xfrm>
          <a:prstGeom prst="rect">
            <a:avLst/>
          </a:prstGeom>
          <a:solidFill>
            <a:srgbClr val="D8E4EE"/>
          </a:solidFill>
          <a:ln w="12700">
            <a:solidFill>
              <a:srgbClr val="D8E4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61761" y="2232950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1761" y="2066731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5066" y="1251332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1807" y="2648032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524898" y="1588366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5421" y="1501820"/>
            <a:ext cx="128016" cy="128016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5448" y="1207008"/>
            <a:ext cx="1609344" cy="1609344"/>
          </a:xfrm>
          <a:prstGeom prst="ellipse">
            <a:avLst/>
          </a:prstGeom>
          <a:solidFill>
            <a:srgbClr val="F5A623">
              <a:alpha val="85000"/>
            </a:srgbClr>
          </a:solidFill>
          <a:ln w="31750">
            <a:solidFill>
              <a:srgbClr val="F5A62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1828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B3C"/>
                </a:solidFill>
              </a:rPr>
              <a:t>CdSe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94360" y="20574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6278"/>
                </a:solidFill>
              </a:rPr>
              <a:t>Core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4343400"/>
            <a:ext cx="164592" cy="164592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4315968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A6278"/>
                </a:solidFill>
              </a:rPr>
              <a:t>Surface trap states (dangling bonds)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331720" y="1179576"/>
            <a:ext cx="256032" cy="256032"/>
          </a:xfrm>
          <a:prstGeom prst="ellipse">
            <a:avLst/>
          </a:prstGeom>
          <a:solidFill>
            <a:srgbClr val="00C2C7">
              <a:alpha val="80000"/>
            </a:srgbClr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331720" y="116128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◈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70048" y="117957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Confinement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70048" y="141732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size-tunable bandgap from ~1.8 eV (bulk) to &gt;2.5 eV; emission wavelength 490–650 nm controlled by crystal diameter.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331720" y="2048256"/>
            <a:ext cx="256032" cy="256032"/>
          </a:xfrm>
          <a:prstGeom prst="ellipse">
            <a:avLst/>
          </a:prstGeom>
          <a:solidFill>
            <a:srgbClr val="00C2C7">
              <a:alpha val="80000"/>
            </a:srgbClr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331720" y="202996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◈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70048" y="204825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Traps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2670048" y="228600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Unsaturated Cd²⁺ / Se²⁻ dangling bonds at the surface act as non-radiative recombination centers, reducing PLQY (&lt;20 %).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331720" y="2916936"/>
            <a:ext cx="256032" cy="256032"/>
          </a:xfrm>
          <a:prstGeom prst="ellipse">
            <a:avLst/>
          </a:prstGeom>
          <a:solidFill>
            <a:srgbClr val="00C2C7">
              <a:alpha val="80000"/>
            </a:srgbClr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331720" y="289864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◈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70048" y="291693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Photostability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2670048" y="315468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Susceptible to photo-oxidation and photobrightening; emission intermittency (blinking) is pronounced due to trap-mediated Auger processes.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331720" y="3785616"/>
            <a:ext cx="256032" cy="256032"/>
          </a:xfrm>
          <a:prstGeom prst="ellipse">
            <a:avLst/>
          </a:prstGeom>
          <a:solidFill>
            <a:srgbClr val="00C2C7">
              <a:alpha val="80000"/>
            </a:srgbClr>
          </a:solidFill>
          <a:ln w="12700">
            <a:solidFill>
              <a:srgbClr val="00C2C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331720" y="376732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70048" y="3785616"/>
            <a:ext cx="6126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Ligands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670048" y="4023360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Capped with TOPO, oleic acid, or amines to provide colloidal stability, but ligand exchange is facile and can worsen trapping.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256032" y="3401568"/>
            <a:ext cx="1920240" cy="658368"/>
          </a:xfrm>
          <a:prstGeom prst="rect">
            <a:avLst/>
          </a:prstGeom>
          <a:solidFill>
            <a:srgbClr val="FFF3CD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92608" y="34381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5E00"/>
                </a:solidFill>
              </a:rPr>
              <a:t>Typical PLQY: </a:t>
            </a:r>
            <a:pPr algn="l" indent="0" marL="0">
              <a:buNone/>
            </a:pPr>
            <a:r>
              <a:rPr lang="en-US" sz="1100" dirty="0">
                <a:solidFill>
                  <a:srgbClr val="7B5E00"/>
                </a:solidFill>
              </a:rPr>
              <a:t>5 – 20 %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2608" y="372160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7B5E00"/>
                </a:solidFill>
              </a:rPr>
              <a:t>Emission FWHM: </a:t>
            </a:r>
            <a:pPr algn="l" indent="0" marL="0">
              <a:buNone/>
            </a:pPr>
            <a:r>
              <a:rPr lang="en-US" sz="1100" dirty="0">
                <a:solidFill>
                  <a:srgbClr val="7B5E00"/>
                </a:solidFill>
              </a:rPr>
              <a:t>~30–50 nm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47472" y="18288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A2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CdSe/ZnS Core/Shell Quantum Dots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47472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Epitaxial ZnS shell passivates surface traps → dramatically enhanced optical performance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" y="1097280"/>
            <a:ext cx="8412480" cy="22860"/>
          </a:xfrm>
          <a:prstGeom prst="rect">
            <a:avLst/>
          </a:prstGeom>
          <a:solidFill>
            <a:srgbClr val="C5D5E4"/>
          </a:solidFill>
          <a:ln w="12700">
            <a:solidFill>
              <a:srgbClr val="C5D5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1234440"/>
            <a:ext cx="2103120" cy="2103120"/>
          </a:xfrm>
          <a:prstGeom prst="ellipse">
            <a:avLst/>
          </a:prstGeom>
          <a:solidFill>
            <a:srgbClr val="7EC8E3">
              <a:alpha val="65000"/>
            </a:srgbClr>
          </a:solidFill>
          <a:ln w="25400">
            <a:solidFill>
              <a:srgbClr val="3A8FA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93192" y="1627632"/>
            <a:ext cx="1316736" cy="1316736"/>
          </a:xfrm>
          <a:prstGeom prst="ellipse">
            <a:avLst/>
          </a:prstGeom>
          <a:solidFill>
            <a:srgbClr val="F5A623">
              <a:alpha val="90000"/>
            </a:srgbClr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08483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B3C"/>
                </a:solidFill>
              </a:rPr>
              <a:t>CdSe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129844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6880"/>
                </a:solidFill>
              </a:rPr>
              <a:t>ZnS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4069080"/>
            <a:ext cx="457200" cy="-365760"/>
          </a:xfrm>
          <a:prstGeom prst="line">
            <a:avLst/>
          </a:prstGeom>
          <a:noFill/>
          <a:ln w="19050">
            <a:solidFill>
              <a:srgbClr val="3A8F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" y="4096512"/>
            <a:ext cx="1645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A6880"/>
                </a:solidFill>
              </a:rPr>
              <a:t>Shell layer</a:t>
            </a: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1A6880"/>
                </a:solidFill>
              </a:rPr>
              <a:t>(1–3 monolayers)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331720" y="1216152"/>
            <a:ext cx="29260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31720" y="1216152"/>
            <a:ext cx="2926080" cy="6400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9736" y="13258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Passivation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59736" y="1618488"/>
            <a:ext cx="2670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ZnS shell (wider bandgap, ~3.5 eV) confines carriers within the CdSe core, eliminating dangling-bond trap states and suppressing non-radiative recombination.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40680" y="1216152"/>
            <a:ext cx="29260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40680" y="1216152"/>
            <a:ext cx="2926080" cy="64008"/>
          </a:xfrm>
          <a:prstGeom prst="rect">
            <a:avLst/>
          </a:prstGeom>
          <a:solidFill>
            <a:srgbClr val="0D6E8A"/>
          </a:solidFill>
          <a:ln w="12700">
            <a:solidFill>
              <a:srgbClr val="0D6E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568696" y="132588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6E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Quantum Yield &amp; Brightness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568696" y="1618488"/>
            <a:ext cx="2670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PLQY jumps to 50–90 %+, with narrow emission linewidth (~20–25 nm FWHM). Near-unity efficiencies achieved with multishell (CdSe/CdS/ZnS) architectures.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331720" y="2724912"/>
            <a:ext cx="29260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331720" y="2724912"/>
            <a:ext cx="2926080" cy="64008"/>
          </a:xfrm>
          <a:prstGeom prst="rect">
            <a:avLst/>
          </a:prstGeom>
          <a:solidFill>
            <a:srgbClr val="116B3A"/>
          </a:solidFill>
          <a:ln w="12700">
            <a:solidFill>
              <a:srgbClr val="116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459736" y="283464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Photostability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459736" y="3127248"/>
            <a:ext cx="2670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Dramatically reduced blinking and photo-oxidation. The shell acts as a physical barrier against oxygen and solvent quenching, extending fluorescence lifetime.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40680" y="2724912"/>
            <a:ext cx="292608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8E4E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40680" y="2724912"/>
            <a:ext cx="2926080" cy="64008"/>
          </a:xfrm>
          <a:prstGeom prst="rect">
            <a:avLst/>
          </a:prstGeom>
          <a:solidFill>
            <a:srgbClr val="7B3F00"/>
          </a:solidFill>
          <a:ln w="12700">
            <a:solidFill>
              <a:srgbClr val="7B3F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68696" y="2834640"/>
            <a:ext cx="2670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 Alignment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68696" y="3127248"/>
            <a:ext cx="267004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4A62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Type-I alignment: both electron and hole wave functions are confined to the CdSe core; ZnS provides a high tunnel barrier (~0.9 eV valence, ~1.1 eV conduction offset).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331720" y="4480560"/>
            <a:ext cx="6492240" cy="502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514600" y="452628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8AADC0"/>
                </a:solidFill>
              </a:rPr>
              <a:t>PLQY: 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50–90 %    </a:t>
            </a:r>
            <a:pPr algn="l" indent="0" marL="0">
              <a:buNone/>
            </a:pPr>
            <a:r>
              <a:rPr lang="en-US" sz="1050" dirty="0">
                <a:solidFill>
                  <a:srgbClr val="8AADC0"/>
                </a:solidFill>
              </a:rPr>
              <a:t>FWHM: 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~20–25 nm    </a:t>
            </a:r>
            <a:pPr algn="l" indent="0" marL="0">
              <a:buNone/>
            </a:pPr>
            <a:r>
              <a:rPr lang="en-US" sz="1050" dirty="0">
                <a:solidFill>
                  <a:srgbClr val="8AADC0"/>
                </a:solidFill>
              </a:rPr>
              <a:t>Lifetime: </a:t>
            </a:r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20–40 ns    </a:t>
            </a:r>
            <a:pPr algn="l" indent="0" marL="0">
              <a:buNone/>
            </a:pPr>
            <a:r>
              <a:rPr lang="en-US" sz="1050" dirty="0">
                <a:solidFill>
                  <a:srgbClr val="8AADC0"/>
                </a:solidFill>
              </a:rPr>
              <a:t>vs Core-only ~5–10 ns, &lt;20 % QY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CdSe Quantum Dots: Core vs Core/Shell</dc:title>
  <dc:subject>PptxGenJS Presentation</dc:subject>
  <dc:creator>PptxGenJS</dc:creator>
  <cp:lastModifiedBy>PptxGenJS</cp:lastModifiedBy>
  <cp:revision>1</cp:revision>
  <dcterms:created xsi:type="dcterms:W3CDTF">2026-06-01T15:48:17Z</dcterms:created>
  <dcterms:modified xsi:type="dcterms:W3CDTF">2026-06-01T15:48:17Z</dcterms:modified>
</cp:coreProperties>
</file>